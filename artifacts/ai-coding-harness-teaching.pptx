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讲解提示：先告诉听众本 PPT 的范围：不讲业务功能，只把 README 当成一张 AI coding 工作流地图。
来源：README.md；AGENTS.md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讲解提示：把 Harness 讲成持续迭代的稳定器：它不替代模型能力，而是把模型放进可以复盘、审阅、验证的路径。
来源：README.md；AGENTS.md “三层架构”与“硬规则”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讲解提示：强调四个持久化输入，以及代码、测试、review 如何把真实世界反馈送回下一轮。
来源：AGENTS.md；.qoder/rules；.qoder/commands；.qoder/skills；.qoder/agents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讲解提示：用这张图建立阅读顺序：AGENTS.md 给总规则，rules/commands/skills/agents 各自补齐行为、入口、方法、角色。
来源：AGENTS.md “三层架构”与“快速入口”；.qoder/ 目录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讲解提示：这页是概念分层：Harness 管行为，OpenSpec 管证据，Superpowers 管动作。三层叠加才形成完整的 AI coding harness。
来源：AGENTS.md “三层架构”；.qoder/skills/；openspec/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讲解提示：把三份文档讲成三个审阅点：先审问题，再审方案，再审执行。人类签字是从想法进入实现的闸门。
来源：AGENTS.md “硬规则 1”；.qoder/commands/opsx/propose.md；openspec/config.yaml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讲解提示：带着听众完整走一遍命令链路：propose 生成证据，sign-off 设置闸门，apply 执行，TDD/review 提供反馈，archive 完成收口。
来源：AGENTS.md “第一次使用”；.qoder/commands/opsx/{propose,apply,archive}.md；.qoder/rules/spec-driven-workflow.md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讲解提示：强调 TDD 在 AI 工作流中承担“可执行反馈”的角色：RED 暴露假设，GREEN 限制修改，REFACTOR 控制长期质量。
来源：.qoder/skills/test-driven-development/SKILL.md；AGENTS.md “TDD 不可绕过”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讲解提示：让学习者把流程当成实验对象：不追求实现 hello-cli，而是观察每个命令如何生成上下文、设置闸门和留下证据。
来源：AGENTS.md “第一次使用”；.qoder/commands/opsx；openspec/changes/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讲解提示：最后回收三问：输入是什么、约束是什么、验收证据是什么。把“看懂 Harness”转成一套可迁移的阅读方法。
来源：README.md；AGENTS.md；.qoder/rules；.qoder/commands/opsx；.qoder/skills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× SPEC-DRIVEN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2816352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 README 读懂：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 AI 按工程流程持续工作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4944" y="4059936"/>
            <a:ext cx="1143000" cy="310896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4069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56816" y="4059936"/>
            <a:ext cx="1298448" cy="310896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56816" y="4069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4059936"/>
            <a:ext cx="1444752" cy="310896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406908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48920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学习目标：看懂“约束 → 产物 → 反馈”的开发闭环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33488" y="841248"/>
            <a:ext cx="4187952" cy="5175504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99248" y="1225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的隐藏主线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99248" y="16459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放进一套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可复用的工程系统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54112" y="2907792"/>
            <a:ext cx="365760" cy="365760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54112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89864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15984" y="29077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我想解决什么问题？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36992" y="3273552"/>
            <a:ext cx="0" cy="530352"/>
          </a:xfrm>
          <a:prstGeom prst="line">
            <a:avLst/>
          </a:prstGeom>
          <a:noFill/>
          <a:ln w="1905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754112" y="3822192"/>
            <a:ext cx="365760" cy="365760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54112" y="3840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81304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3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38221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什么必须先发生？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36992" y="4187952"/>
            <a:ext cx="0" cy="530352"/>
          </a:xfrm>
          <a:prstGeom prst="line">
            <a:avLst/>
          </a:prstGeom>
          <a:noFill/>
          <a:ln w="1905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754112" y="4736592"/>
            <a:ext cx="365760" cy="365760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54112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72744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015984" y="47365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如何证明它真的完成？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699248" y="5641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 · 仅聚焦 Harness 思路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018520" y="6400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A TEACHING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WHY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先读懂这份 README 在解决什么问题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核心问题不是“AI 会不会写代码”，而是“AI 能不能持续地写对代码”。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048256"/>
            <a:ext cx="4590288" cy="3547872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问题的本质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816352"/>
            <a:ext cx="3520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一次生成，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不等于持续交付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78224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的难点会在第二次、第三次迭代出现：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上下文丢失、边界漂移、流程被跳过、完成标准模糊。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5065776"/>
            <a:ext cx="1078992" cy="310896"/>
          </a:xfrm>
          <a:prstGeom prst="roundRect">
            <a:avLst/>
          </a:prstGeom>
          <a:solidFill>
            <a:srgbClr val="0B132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5074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49424" y="5065776"/>
            <a:ext cx="987552" cy="310896"/>
          </a:xfrm>
          <a:prstGeom prst="roundRect">
            <a:avLst/>
          </a:prstGeom>
          <a:solidFill>
            <a:srgbClr val="0B1324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9424" y="5074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01568" y="5065776"/>
            <a:ext cx="987552" cy="310896"/>
          </a:xfrm>
          <a:prstGeom prst="roundRect">
            <a:avLst/>
          </a:prstGeom>
          <a:solidFill>
            <a:srgbClr val="0B1324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5074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13969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从“裸模型”到“受治理的 AI 工作流”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79008" y="2578608"/>
            <a:ext cx="2359152" cy="2249424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44768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裸模型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144768" y="3401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“帮我加一个功能”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44768" y="385876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结果依赖当下上下文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过程不容易复盘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3419856"/>
            <a:ext cx="384048" cy="566928"/>
          </a:xfrm>
          <a:prstGeom prst="chevron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79408" y="2578608"/>
            <a:ext cx="2359152" cy="2249424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45168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345168" y="34015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“先对齐，再实现”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38587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规则约束行为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产物留下证据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测试提供反馈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779008" y="52852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一句话：Harness 把“写代码”变成“在流程里交付代码”。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READ THE README AS A SYSTEM MAP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MENTAL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= 给模型加上可执行的上下文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它不是更长的 prompt，而是一组持久化的规则、入口、方法与反馈。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2103120"/>
            <a:ext cx="2880360" cy="3566160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0704" y="24505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持久化输入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69848" y="2962656"/>
            <a:ext cx="219456" cy="219456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44752" y="2916936"/>
            <a:ext cx="1042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432304" y="292608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什么不能违反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69848" y="3529584"/>
            <a:ext cx="219456" cy="219456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44752" y="3483864"/>
            <a:ext cx="1042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432304" y="349300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从哪里开始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69848" y="4096512"/>
            <a:ext cx="219456" cy="219456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44752" y="4050792"/>
            <a:ext cx="1042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432304" y="405993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如何做得稳定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69848" y="4663440"/>
            <a:ext cx="219456" cy="219456"/>
          </a:xfrm>
          <a:prstGeom prst="ellipse">
            <a:avLst/>
          </a:prstGeom>
          <a:solidFill>
            <a:srgbClr val="74D6A2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44752" y="4617720"/>
            <a:ext cx="1042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432304" y="462686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谁负责判断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" y="524865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它们都能被提交、审阅、复用。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69080" y="2103120"/>
            <a:ext cx="4023360" cy="356616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2999232"/>
            <a:ext cx="1755648" cy="1755648"/>
          </a:xfrm>
          <a:prstGeom prst="ellipse">
            <a:avLst/>
          </a:prstGeom>
          <a:solidFill>
            <a:srgbClr val="1E385B"/>
          </a:solidFill>
          <a:ln w="25400">
            <a:solidFill>
              <a:srgbClr val="5CE1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0" y="343814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102352" y="382219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生成与推理能力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35424" y="4718304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提供方向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模型提供能力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593592" y="3877056"/>
            <a:ext cx="475488" cy="0"/>
          </a:xfrm>
          <a:prstGeom prst="line">
            <a:avLst/>
          </a:prstGeom>
          <a:noFill/>
          <a:ln w="25400">
            <a:solidFill>
              <a:srgbClr val="5CE1E6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822192" y="3648456"/>
            <a:ext cx="237744" cy="457200"/>
          </a:xfrm>
          <a:prstGeom prst="chevron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77072" y="2103120"/>
            <a:ext cx="2907792" cy="3566160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42832" y="24505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输出与反馈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42832" y="3035808"/>
            <a:ext cx="2194560" cy="438912"/>
          </a:xfrm>
          <a:prstGeom prst="roundRect">
            <a:avLst/>
          </a:prstGeom>
          <a:solidFill>
            <a:srgbClr val="0B1324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25712" y="30998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784080" y="31089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真实代码与变更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42832" y="3730752"/>
            <a:ext cx="2194560" cy="438912"/>
          </a:xfrm>
          <a:prstGeom prst="roundRect">
            <a:avLst/>
          </a:prstGeom>
          <a:solidFill>
            <a:srgbClr val="0B1324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25712" y="37947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380390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/ 通过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42832" y="4425696"/>
            <a:ext cx="2194560" cy="438912"/>
          </a:xfrm>
          <a:prstGeom prst="roundRect">
            <a:avLst/>
          </a:prstGeom>
          <a:solidFill>
            <a:srgbClr val="0B1324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25712" y="44897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784080" y="449884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人类判断与纠偏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92440" y="3877056"/>
            <a:ext cx="484632" cy="0"/>
          </a:xfrm>
          <a:prstGeom prst="line">
            <a:avLst/>
          </a:prstGeom>
          <a:noFill/>
          <a:ln w="254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8302752" y="3648456"/>
            <a:ext cx="237744" cy="457200"/>
          </a:xfrm>
          <a:prstGeom prst="chevron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42832" y="528523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下一轮上下文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READ THE README AS A SYSTEM MAP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ANATOMY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仓库里的 Harness 拆成 5 类零件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`.qoder/` 时，不要只看文件名；要看每类文件在工作流中扮演什么角色。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2029968"/>
            <a:ext cx="1792224" cy="3639312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.qoder/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163824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681728"/>
            <a:ext cx="1152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让“应该怎么工作”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成为仓库的一部分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61488" y="2029968"/>
            <a:ext cx="1554480" cy="3639312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359152"/>
            <a:ext cx="292608" cy="292608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38658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8895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401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.qoder/rules/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0" y="3822192"/>
            <a:ext cx="1188720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2926080" y="40965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持续生效的边界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4828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spec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 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35424" y="2029968"/>
            <a:ext cx="1554480" cy="3639312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2359152"/>
            <a:ext cx="292608" cy="292608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0016" y="238658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700016" y="28895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3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700016" y="3401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.qoder/commands/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0016" y="3822192"/>
            <a:ext cx="1188720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4700016" y="40965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工作流入口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00016" y="4828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/opsx:propose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/opsx:apply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029968"/>
            <a:ext cx="1554480" cy="3639312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2359152"/>
            <a:ext cx="292608" cy="29260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238658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28895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3401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.qoder/skills/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73952" y="3822192"/>
            <a:ext cx="1188720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6473952" y="40965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可复用的方法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73952" y="4828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83296" y="2029968"/>
            <a:ext cx="1554480" cy="3639312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47888" y="2359152"/>
            <a:ext cx="292608" cy="292608"/>
          </a:xfrm>
          <a:prstGeom prst="ellipse">
            <a:avLst/>
          </a:prstGeom>
          <a:solidFill>
            <a:srgbClr val="74D6A2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47888" y="238658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47888" y="28895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8247888" y="3401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.qoder/agents/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47888" y="3822192"/>
            <a:ext cx="1188720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8247888" y="40965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角色与判断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47888" y="4828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reviewer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57232" y="2029968"/>
            <a:ext cx="1554480" cy="3639312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21824" y="2359152"/>
            <a:ext cx="292608" cy="292608"/>
          </a:xfrm>
          <a:prstGeom prst="ellipse">
            <a:avLst/>
          </a:prstGeom>
          <a:solidFill>
            <a:srgbClr val="FF7A8A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21824" y="238658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021824" y="28895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10021824" y="3401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./AGENTS.md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021824" y="3822192"/>
            <a:ext cx="1188720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 txBox="1"/>
          <p:nvPr/>
        </p:nvSpPr>
        <p:spPr>
          <a:xfrm>
            <a:off x="10021824" y="40965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仓库级总契约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021824" y="4828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硬规则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2761488" y="592531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判断顺序：先找总契约，再找入口，最后追到具体方法。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READ THE README AS A SYSTEM MAP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三层分工：管规则、管产物、管方法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Harness、OpenSpec、Superpowers 不是三个口号，而是三种不同的稳定性来源。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6384" y="2103120"/>
            <a:ext cx="10625328" cy="969264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295144"/>
            <a:ext cx="1408176" cy="566928"/>
          </a:xfrm>
          <a:prstGeom prst="roundRect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35915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2860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管行为边界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5420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知道“必须遵守什么、从哪里开始、谁来判断”。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73568" y="241401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  ·  rules  ·  commands  ·  agents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" y="3328416"/>
            <a:ext cx="10625328" cy="969264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3520440"/>
            <a:ext cx="1408176" cy="566928"/>
          </a:xfrm>
          <a:prstGeom prst="roundRect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3584448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51129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管持久化产物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76732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让需求从一句话变成可讨论、可追踪、可复盘的文档证据。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973568" y="363931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proposal.md  →  design.md  →  tasks.md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" y="4553712"/>
            <a:ext cx="10625328" cy="969264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745736"/>
            <a:ext cx="1408176" cy="566928"/>
          </a:xfrm>
          <a:prstGeom prst="round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809744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473659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管执行方法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49926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让实现动作有套路：先想清楚、先写测试、再实现、再验证。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486460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brainstorming  ·  TDD  ·  review  ·  verification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3387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组合后的效果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95728" y="583387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每次行动都有：输入约束  →  中间产物  →  验收反馈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85248" y="5687568"/>
            <a:ext cx="347472" cy="347472"/>
          </a:xfrm>
          <a:prstGeom prst="ellipse">
            <a:avLst/>
          </a:prstGeom>
          <a:solidFill>
            <a:srgbClr val="74D6A2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85248" y="572414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READ THE README AS A SYSTEM MAP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OPENSPEC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OpenSpec：把一句需求拆成三种可审阅的证据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先对齐“为什么 / 怎么做 / 先做什么”，再让 AI 进入代码区。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4672" y="2139696"/>
            <a:ext cx="2761488" cy="310896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468880"/>
            <a:ext cx="347472" cy="347472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" y="25146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09344" y="2468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proposal.md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0540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52144" y="3730752"/>
            <a:ext cx="109728" cy="109728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89888" y="3675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问题是什么？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52144" y="4096512"/>
            <a:ext cx="109728" cy="109728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89888" y="4041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范围是什么？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52144" y="4462272"/>
            <a:ext cx="109728" cy="109728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89888" y="440740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价值是什么？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15568" y="4828032"/>
            <a:ext cx="2139696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1115568" y="495604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决策入口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49040" y="3438144"/>
            <a:ext cx="292608" cy="512064"/>
          </a:xfrm>
          <a:prstGeom prst="chevron">
            <a:avLst/>
          </a:prstGeom>
          <a:solidFill>
            <a:srgbClr val="294260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33088" y="2139696"/>
            <a:ext cx="2761488" cy="310896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3984" y="2468880"/>
            <a:ext cx="347472" cy="34747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43984" y="25146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468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3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design.md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443984" y="30540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怎么做？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480560" y="3730752"/>
            <a:ext cx="109728" cy="109728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3675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方案怎么落地？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80560" y="4096512"/>
            <a:ext cx="109728" cy="109728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4041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边界在哪里？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80560" y="4462272"/>
            <a:ext cx="109728" cy="109728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18304" y="440740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有哪些取舍？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43984" y="4828032"/>
            <a:ext cx="2139696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4443984" y="495604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3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设计证据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77456" y="3438144"/>
            <a:ext cx="292608" cy="512064"/>
          </a:xfrm>
          <a:prstGeom prst="chevron">
            <a:avLst/>
          </a:prstGeom>
          <a:solidFill>
            <a:srgbClr val="294260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61504" y="2139696"/>
            <a:ext cx="2761488" cy="310896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2468880"/>
            <a:ext cx="347472" cy="34747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0" y="25146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66176" y="24688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tasks.md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30540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先做什么？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808976" y="373075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6720" y="3675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步骤怎么拆？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08976" y="409651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0" y="4041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每步怎么验收？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808976" y="446227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0" y="440740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完成如何勾选？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72400" y="4828032"/>
            <a:ext cx="2139696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7772400" y="495604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执行清单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4672" y="5596128"/>
            <a:ext cx="9418320" cy="530352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60704" y="57332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人类签字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2395728" y="5733288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/ design / tasks 对齐后，才进入实现阶段。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705088" y="573328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阻止“直接开写”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53" name="Text 51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READ THE README AS A SYSTEM MAP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LOOP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从想法到归档：完整闭环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这条链路的价值是：每一步都有可见产物，每一个跳步都更容易被发现。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87552" y="3035808"/>
            <a:ext cx="9912096" cy="0"/>
          </a:xfrm>
          <a:prstGeom prst="line">
            <a:avLst/>
          </a:prstGeom>
          <a:noFill/>
          <a:ln w="254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05840" y="2679192"/>
            <a:ext cx="713232" cy="713232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8529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675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Idea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1148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一句需求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31136" y="2816352"/>
            <a:ext cx="228600" cy="438912"/>
          </a:xfrm>
          <a:prstGeom prst="chevron">
            <a:avLst/>
          </a:prstGeom>
          <a:solidFill>
            <a:srgbClr val="294260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6352" y="2679192"/>
            <a:ext cx="713232" cy="71323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16352" y="28529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675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3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/opsx:propose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41148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产出三份 spec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41648" y="2816352"/>
            <a:ext cx="228600" cy="438912"/>
          </a:xfrm>
          <a:prstGeom prst="chevron">
            <a:avLst/>
          </a:prstGeom>
          <a:solidFill>
            <a:srgbClr val="294260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2679192"/>
            <a:ext cx="713232" cy="71323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26864" y="28529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279392" y="3675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Sign-off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279392" y="41148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人类确认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2816352"/>
            <a:ext cx="228600" cy="438912"/>
          </a:xfrm>
          <a:prstGeom prst="chevron">
            <a:avLst/>
          </a:prstGeom>
          <a:solidFill>
            <a:srgbClr val="294260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2679192"/>
            <a:ext cx="713232" cy="71323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28529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089904" y="3675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3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/opsx:apply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089904" y="41148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tasks 执行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62672" y="2816352"/>
            <a:ext cx="228600" cy="438912"/>
          </a:xfrm>
          <a:prstGeom prst="chevron">
            <a:avLst/>
          </a:prstGeom>
          <a:solidFill>
            <a:srgbClr val="294260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2679192"/>
            <a:ext cx="713232" cy="713232"/>
          </a:xfrm>
          <a:prstGeom prst="ellipse">
            <a:avLst/>
          </a:prstGeom>
          <a:solidFill>
            <a:srgbClr val="74D6A2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7888" y="28529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900416" y="3675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TDD + review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7900416" y="41148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反馈与验收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73184" y="2816352"/>
            <a:ext cx="228600" cy="438912"/>
          </a:xfrm>
          <a:prstGeom prst="chevron">
            <a:avLst/>
          </a:prstGeom>
          <a:solidFill>
            <a:srgbClr val="294260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2679192"/>
            <a:ext cx="713232" cy="713232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0" y="285292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675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/opsx:archive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9710928" y="41148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收口留痕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672" y="5074920"/>
            <a:ext cx="3346704" cy="749808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78992" y="5294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决策点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938528" y="529437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什么时候可以从 spec 进入 code？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07408" y="5074920"/>
            <a:ext cx="3346704" cy="749808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81728" y="5294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反馈点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541264" y="52943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失败测试如何改变下一步？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10144" y="5074920"/>
            <a:ext cx="3346704" cy="749808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84464" y="5294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收口点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52943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完成后的上下文如何保存？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READ THE README AS A SYSTEM MAP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FEEDBACK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TDD 是 AI coding 的关键反馈回路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来说，测试不是收尾检查，而是下一轮上下文。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2048256"/>
            <a:ext cx="4133088" cy="3621024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0704" y="239572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 → GREEN → REFACTOR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70432" y="3255264"/>
            <a:ext cx="804672" cy="804672"/>
          </a:xfrm>
          <a:prstGeom prst="ellipse">
            <a:avLst/>
          </a:prstGeom>
          <a:solidFill>
            <a:srgbClr val="FF7A8A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3511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4206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先看到失败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59152" y="4151376"/>
            <a:ext cx="804672" cy="804672"/>
          </a:xfrm>
          <a:prstGeom prst="ellipse">
            <a:avLst/>
          </a:prstGeom>
          <a:solidFill>
            <a:srgbClr val="74D6A2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04288" y="4407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5102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最小实现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29584" y="3255264"/>
            <a:ext cx="804672" cy="80467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3511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REFACTOR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4206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整理结构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20240" y="3657600"/>
            <a:ext cx="438912" cy="713232"/>
          </a:xfrm>
          <a:prstGeom prst="line">
            <a:avLst/>
          </a:prstGeom>
          <a:noFill/>
          <a:ln w="228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163824" y="4370832"/>
            <a:ext cx="457200" cy="-713232"/>
          </a:xfrm>
          <a:prstGeom prst="line">
            <a:avLst/>
          </a:prstGeom>
          <a:noFill/>
          <a:ln w="228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096512" y="3255264"/>
            <a:ext cx="-2121408" cy="0"/>
          </a:xfrm>
          <a:prstGeom prst="line">
            <a:avLst/>
          </a:prstGeom>
          <a:noFill/>
          <a:ln w="228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1316736" y="508406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失败不是阻塞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而是导航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30428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没有反馈时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13648" y="230428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有反馈时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94960" y="3328416"/>
            <a:ext cx="5779008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5394960" y="28712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287121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实现漂移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13648" y="28712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测试暴露边界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94960" y="4114800"/>
            <a:ext cx="5779008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5394960" y="365760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72784" y="36576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越改越大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365760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保持最小增量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4960" y="4901184"/>
            <a:ext cx="5779008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5394960" y="444398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444398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“看起来可以”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613648" y="4443984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有证据可以继续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394960" y="5413248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的关键不是让 AI 永远不犯错，而是让错误尽早、清晰、可修复地出现。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READ THE README AS A SYSTEM MAP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PRACTICE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用一个小练习把 Harness 读出来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练习目标：不写业务代码，只观察流程如何约束 AI。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2066544"/>
            <a:ext cx="3822192" cy="3639312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0704" y="23957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2834640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为项目加一个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hello-cli 命令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4059936"/>
            <a:ext cx="2889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你不需要真的实现它。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只追踪：流程先要求你写什么？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什么时刻才允许碰代码？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60704" y="5230368"/>
            <a:ext cx="1097280" cy="310896"/>
          </a:xfrm>
          <a:prstGeom prst="roundRect">
            <a:avLst/>
          </a:prstGeom>
          <a:solidFill>
            <a:srgbClr val="0B132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5239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只读流程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22576" y="5230368"/>
            <a:ext cx="1097280" cy="310896"/>
          </a:xfrm>
          <a:prstGeom prst="roundRect">
            <a:avLst/>
          </a:prstGeom>
          <a:solidFill>
            <a:srgbClr val="0B1324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22576" y="5239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D6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不改代码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10912" y="2148840"/>
            <a:ext cx="256032" cy="25603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10912" y="219456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68112" y="210312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写一句 idea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242048" y="2112264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不要直接让 AI 开写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38928" y="2423160"/>
            <a:ext cx="0" cy="246888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010912" y="2715768"/>
            <a:ext cx="256032" cy="25603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10912" y="276148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2670048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propose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242048" y="2679192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change 目录出现什么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38928" y="2990088"/>
            <a:ext cx="0" cy="246888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5010912" y="3282696"/>
            <a:ext cx="256032" cy="25603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10912" y="332841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68112" y="3236976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读三份 spec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242048" y="324612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分别回答 why / how / next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38928" y="3557016"/>
            <a:ext cx="0" cy="246888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010912" y="3849624"/>
            <a:ext cx="256032" cy="25603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10912" y="389534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68112" y="3803904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 sign-off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242048" y="381304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找出人工决策点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138928" y="4123944"/>
            <a:ext cx="0" cy="246888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5010912" y="4416552"/>
            <a:ext cx="256032" cy="25603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10912" y="446227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468112" y="4370832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 TDD 反馈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242048" y="4379976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观察失败如何回流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138928" y="4690872"/>
            <a:ext cx="0" cy="246888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5010912" y="4983480"/>
            <a:ext cx="256032" cy="25603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10912" y="5029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68112" y="493776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 archive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242048" y="4946904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看上下文如何收口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82896" y="5632704"/>
            <a:ext cx="6309360" cy="512064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30368" y="5788152"/>
            <a:ext cx="5596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观察问题：谁决定？什么留下？反馈从哪里回来？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READ THE README AS A SYSTEM MAP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0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TAKEAWAY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带走这张地图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070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 README，你应该能回答：输入是什么？约束是什么？验收证据是什么？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11045952" cy="0"/>
          </a:xfrm>
          <a:prstGeom prst="line">
            <a:avLst/>
          </a:prstGeom>
          <a:noFill/>
          <a:ln w="1270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11064240" y="3200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6384" y="2048256"/>
            <a:ext cx="10607040" cy="1115568"/>
          </a:xfrm>
          <a:prstGeom prst="roundRect">
            <a:avLst/>
          </a:prstGeom>
          <a:solidFill>
            <a:srgbClr val="172B49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3856" y="2368296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让 AI 开始；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368296"/>
            <a:ext cx="5980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让 AI 稳定地继续。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490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推荐阅读顺序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315968"/>
            <a:ext cx="347472" cy="347472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074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49011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52486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先看项目的总叙事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4315968"/>
            <a:ext cx="347472" cy="347472"/>
          </a:xfrm>
          <a:prstGeom prst="ellipse">
            <a:avLst/>
          </a:prstGeom>
          <a:solidFill>
            <a:srgbClr val="63A7FF"/>
          </a:solidFill>
          <a:ln w="12700">
            <a:solidFill>
              <a:srgbClr val="63A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17520" y="44074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80944" y="49011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80944" y="52486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确认拓扑与硬规则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4315968"/>
            <a:ext cx="347472" cy="34747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44074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175504" y="49011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.qoder/rules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52486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找到持续性约束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4315968"/>
            <a:ext cx="347472" cy="347472"/>
          </a:xfrm>
          <a:prstGeom prst="ellipse">
            <a:avLst/>
          </a:prstGeom>
          <a:solidFill>
            <a:srgbClr val="74D6A2"/>
          </a:solidFill>
          <a:ln w="12700">
            <a:solidFill>
              <a:srgbClr val="74D6A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44074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370064" y="49011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.qoder/commands/opsx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52486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看工作流入口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01200" y="4315968"/>
            <a:ext cx="347472" cy="347472"/>
          </a:xfrm>
          <a:prstGeom prst="ellipse">
            <a:avLst/>
          </a:prstGeom>
          <a:solidFill>
            <a:srgbClr val="FF7A8A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0" y="44074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3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564624" y="49011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.qoder/skills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564624" y="52486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FC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追执行方法与反馈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5888736"/>
            <a:ext cx="10552176" cy="384048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2942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97280" y="5980176"/>
            <a:ext cx="10003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目标不是自动化一切，而是把不确定性放进可检查的流程里。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94260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566928" y="655624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789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START WITH THE SYSTEM, THEN STUDY THE CODE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Harness：从 README 读懂开发思路</dc:title>
  <dc:subject>AI Coding Harness 教学</dc:subject>
  <dc:creator>Codex</dc:creator>
  <cp:lastModifiedBy>Codex</cp:lastModifiedBy>
  <cp:revision>1</cp:revision>
  <dcterms:created xsi:type="dcterms:W3CDTF">2026-09-05T06:42:00Z</dcterms:created>
  <dcterms:modified xsi:type="dcterms:W3CDTF">2026-09-05T06:42:00Z</dcterms:modified>
</cp:coreProperties>
</file>